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laciones Productivas en México UAM Azcapotzalco" userId="912990a1b0635015" providerId="LiveId" clId="{55D5456A-5551-4F68-AABF-9F5B0820E0DF}"/>
    <pc:docChg chg="custSel modSld">
      <pc:chgData name="Relaciones Productivas en México UAM Azcapotzalco" userId="912990a1b0635015" providerId="LiveId" clId="{55D5456A-5551-4F68-AABF-9F5B0820E0DF}" dt="2026-07-29T02:54:38.491" v="367" actId="255"/>
      <pc:docMkLst>
        <pc:docMk/>
      </pc:docMkLst>
      <pc:sldChg chg="modSp mod">
        <pc:chgData name="Relaciones Productivas en México UAM Azcapotzalco" userId="912990a1b0635015" providerId="LiveId" clId="{55D5456A-5551-4F68-AABF-9F5B0820E0DF}" dt="2026-07-29T02:54:38.491" v="367" actId="255"/>
        <pc:sldMkLst>
          <pc:docMk/>
          <pc:sldMk cId="2414800827" sldId="259"/>
        </pc:sldMkLst>
        <pc:graphicFrameChg chg="modGraphic">
          <ac:chgData name="Relaciones Productivas en México UAM Azcapotzalco" userId="912990a1b0635015" providerId="LiveId" clId="{55D5456A-5551-4F68-AABF-9F5B0820E0DF}" dt="2026-07-29T02:54:38.491" v="367" actId="255"/>
          <ac:graphicFrameMkLst>
            <pc:docMk/>
            <pc:sldMk cId="2414800827" sldId="259"/>
            <ac:graphicFrameMk id="4" creationId="{2E3E2FA9-B9DC-86A3-9902-113457182EB6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F54AE-EA8D-0819-C2D9-080F122C5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987CF6-D723-3B18-7037-3D1245D49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AE2F5F-D6C5-0A7D-4EFD-77B4ABADA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3E090-064F-4606-A772-25D282275BEC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95D68C-A9FF-EAE4-FFBB-651D81F7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00FBA-C463-5C0A-D2F8-BB4AB380B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387D-6F11-4A8F-A97A-B826D28B3B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577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1B52D5-B2AA-98E1-1EEB-76BEA118C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B62AD3-6E2A-C86E-218E-D0CC58717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050928-438E-8CC5-AFB3-5147853B5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3E090-064F-4606-A772-25D282275BEC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E2BFEA-4903-4AC2-2089-8D550515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2A93DC-9D82-C7BF-0B51-E1E8A4F70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387D-6F11-4A8F-A97A-B826D28B3B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0502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CB019E-8467-548E-8D0F-0BB62EA15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E5D927-D789-A7FF-F474-F3727D731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8D43F0-2005-AC37-246F-E84435BE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3E090-064F-4606-A772-25D282275BEC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485AF8-2424-2D83-537A-6413D6D3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12C3FA-1FD8-0A65-F7C9-2DDE3692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387D-6F11-4A8F-A97A-B826D28B3B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0694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0DC959-17B1-5293-2A9E-439C6FAD0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E8911A-8E20-854C-81D5-6CDFE9BEF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03E931-B32F-B906-1978-CEADAFA66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C9D094-3361-A466-CC18-5E68E965E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3E090-064F-4606-A772-25D282275BEC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FFD527-A4E1-0575-1A5C-89457B236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4D2237-ED6B-169A-12CE-85C09B5A0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387D-6F11-4A8F-A97A-B826D28B3B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8766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2F839E-8266-8B7B-D4C3-65BD94A4A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E349FD-75CA-1B0B-F34A-54DD50F05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35A3AF-C651-594C-1592-B47EE4D12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B589AB-578D-9BFF-74D4-06347A4DD9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1F3D90C-F0CD-62C2-604F-D821B39F87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8A183-8BD3-919C-9167-02F992FB4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3E090-064F-4606-A772-25D282275BEC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782392E-C505-6B65-B3FC-82888268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6CD147A-FA9A-4AAC-99F9-6C6D99E8D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387D-6F11-4A8F-A97A-B826D28B3B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7903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239F4-A33B-6D28-18F8-4F446A71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1D94EAF-B871-C3F8-4F75-E0D347EAE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3E090-064F-4606-A772-25D282275BEC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3C0EDE6-B789-9DBE-ACD5-C5F7AF556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AB09308-ED0E-8FC7-F69C-FE785D07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387D-6F11-4A8F-A97A-B826D28B3B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70267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A0F670F-4A6F-680B-1C31-EBEC63121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3E090-064F-4606-A772-25D282275BEC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839116-0255-5C62-D7A4-CBB5717A6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ADACB4-8B27-BB3A-2E7E-6997AB92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387D-6F11-4A8F-A97A-B826D28B3B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512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9D9D7-D71E-0006-64DE-F1E06E568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0ADC63-67E6-9486-2737-BFDB0D338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CE8362-2D44-D36E-B3A0-0D9030596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B69BEF4-CE51-38E7-7969-836138D42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3E090-064F-4606-A772-25D282275BEC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BEDB30-1986-F8C0-0F4F-4AE332211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B5157F-79DA-2727-BB7B-93E920297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387D-6F11-4A8F-A97A-B826D28B3B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4907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FE658-16DD-0B60-79C1-4D04091FF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B04B325-6ADD-B72F-E217-AD61DF8EC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A5CB04-4CB8-706A-A861-D3E1EBCBB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D1441C-4691-CE5C-8E41-40AA80852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3E090-064F-4606-A772-25D282275BEC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65E4C9-A486-11DF-ECAA-CC0EE2CE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F52C02-21F5-C36A-0A44-B75C23C33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387D-6F11-4A8F-A97A-B826D28B3B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6575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FA0963-E612-DE72-C895-B4FB41C89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5E0559-36D5-E5F0-4EEA-56F66C1DB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3062A2-83BE-4349-5BB5-F95B1549B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3E090-064F-4606-A772-25D282275BEC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395C20-AC42-D524-CAAF-94DCD2E10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41124B-AAB8-C160-1EC2-1C7C11565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387D-6F11-4A8F-A97A-B826D28B3B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0051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396CE4-7D46-46B6-22E0-2CB0D488C6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96CE42D-44B4-189E-E94A-D165FFD7E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FF3A44-17F9-A4E1-E28D-957AA6093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3E090-064F-4606-A772-25D282275BEC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3E5EEA-BA63-2AEA-EBFE-4CF17AD4D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FDA9F7-57E4-0E8A-B8C9-B3DAC019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387D-6F11-4A8F-A97A-B826D28B3B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3709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343A115-BF9D-B9E8-FA43-EE4702474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6835EC-E8AB-9C75-1FE7-BA2D01B47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7E607D-CDE8-F88A-BCC1-ED943D597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3E090-064F-4606-A772-25D282275BEC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84BBE6-C396-12CC-A4B0-F848F2251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C7D4E6-1A10-3745-DD14-5A7260037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B4387D-6F11-4A8F-A97A-B826D28B3B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6316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532B8D-3636-D633-053F-56EB142CA1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Protocolo de investigación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C0A6CD-86A8-F36A-B9D9-37436D806F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Jorge Cortés Morales</a:t>
            </a:r>
          </a:p>
          <a:p>
            <a:r>
              <a:rPr lang="es-ES" dirty="0"/>
              <a:t>Maestría en Economía </a:t>
            </a:r>
          </a:p>
          <a:p>
            <a:r>
              <a:rPr lang="es-ES" dirty="0"/>
              <a:t>Depto en Economía 26-P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9017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E448C-B094-238C-EB06-CF820A99D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Análisis de consistencia</a:t>
            </a:r>
            <a:endParaRPr lang="es-MX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AEF98C9-6454-BCA1-1E4B-E30ECD8678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8974718"/>
              </p:ext>
            </p:extLst>
          </p:nvPr>
        </p:nvGraphicFramePr>
        <p:xfrm>
          <a:off x="838200" y="1825625"/>
          <a:ext cx="10515597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1304559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3148376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387311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Alumno: Jorge Cortés Morales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Contenido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Observaciones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571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Tema de investigación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Extracción de minerales críticos y encadenamientos productivos en México 1992-2025 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tema de investigación está bien planteado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304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Brecha de conocimiento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La brecha de conocimiento está sugerida como la investigación de la extracción de minerales en México y sus exportaciones 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Hay un recorte preciso de lo que se quiere investigar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768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8751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652E0-F7BE-4A98-FB9D-0ABF82620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Análisis de consistencia</a:t>
            </a:r>
            <a:endParaRPr lang="es-MX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AD2AFFE-904B-5C33-3357-4198E606E0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536363"/>
              </p:ext>
            </p:extLst>
          </p:nvPr>
        </p:nvGraphicFramePr>
        <p:xfrm>
          <a:off x="838200" y="1825625"/>
          <a:ext cx="10515597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20776683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37646011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14922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Alumno: Jorge Cortés Morales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Contenido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Observaciones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037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Problema de investigación 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El problema de investigación está también sugerido como el análisis de la industria extractiva en las cadenas productivas y en las cadenas globales de valor en una primera aproximación.</a:t>
                      </a:r>
                    </a:p>
                    <a:p>
                      <a:r>
                        <a:rPr lang="es-ES" sz="1200" dirty="0"/>
                        <a:t>En una segunda aproximación como una economía de enclave y la ausencia de una política industrial a partir del enfoque estructuralista de CEPAL</a:t>
                      </a:r>
                    </a:p>
                    <a:p>
                      <a:r>
                        <a:rPr lang="es-ES" sz="1200" dirty="0"/>
                        <a:t>Hay que formular la articulación de estos dos aspectos del problema de investigación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El obstáculo que se observa para el recorte analítico del problema de investigación es la falta de un marco teórico bien estructurado, hay elementos sugeridos que aparecen desarticulados: economía enclave exportadora, política de desarrollo industrial, encadenamientos productivos y cadenas globales de valor</a:t>
                      </a:r>
                    </a:p>
                    <a:p>
                      <a:r>
                        <a:rPr lang="es-ES" sz="1200" dirty="0"/>
                        <a:t>El punto de partida es la ubicación económica como economía de enclave de la minería mexicana en los eslabonamientos productivos globalizados y las cadenas globales de valor.</a:t>
                      </a:r>
                    </a:p>
                    <a:p>
                      <a:r>
                        <a:rPr lang="es-ES" sz="1200" dirty="0"/>
                        <a:t>El segundo punto es la implicación de una política industrial que rompa con el modelo d e economía de enclave para reconfigurar su ubicación en las cadenas productivas y las cadenas globales de valor</a:t>
                      </a:r>
                      <a:endParaRPr lang="es-MX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475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Preguntas de investigación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La pregunta analítica general se relaciona con la primera sugerencia de la brecha de conocimiento y el problema de investigación.</a:t>
                      </a:r>
                      <a:endParaRPr lang="es-MX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Las preguntas derivadas hay que afinarlas todavía ya que en el escenario de la economía de enclave la estructura de mercados, los eslabonamientos productivos y las cadenas globales de valor son exógenas…</a:t>
                      </a:r>
                      <a:endParaRPr lang="es-MX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550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1288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BC8D59-FD93-6430-DA48-1A93BE7C4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Análisis de consistencia</a:t>
            </a:r>
            <a:endParaRPr lang="es-MX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E3E2FA9-B9DC-86A3-9902-113457182E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9157314"/>
              </p:ext>
            </p:extLst>
          </p:nvPr>
        </p:nvGraphicFramePr>
        <p:xfrm>
          <a:off x="838200" y="1825625"/>
          <a:ext cx="10515597" cy="290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36177099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9350496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683830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Alumno: Jorge Cortes Morales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contenido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observaciones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904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Objetivos analíticos:</a:t>
                      </a:r>
                    </a:p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El objetivo analítico general es consistente con la pregunta analítica general y hay consistencia entre los objetivos específicos y las preguntas específicas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Las preguntas específicas y los objetivos específicos hacen un recorte más preciso de la brecha de conocimiento y su relación con el problema de investigación, hay que retomar esa precisión en la redacción tanto de la brecha de conocimiento como del problema de investigación</a:t>
                      </a:r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807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Hipótesis de trabajo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La hipótesis de trabajo general y las hipótesis específicas son consistentes con las preguntas y objetivos analíticos</a:t>
                      </a:r>
                      <a:endParaRPr lang="es-MX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A  pesar de la claridad y consistencia de las preguntas, objetivos e hipótesis, la brecha de conocimiento y el problema de investigación no tienen la misma precisión</a:t>
                      </a:r>
                      <a:endParaRPr lang="es-MX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177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8008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449</Words>
  <Application>Microsoft Office PowerPoint</Application>
  <PresentationFormat>Panorámica</PresentationFormat>
  <Paragraphs>38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Protocolo de investigación</vt:lpstr>
      <vt:lpstr>Análisis de consistencia</vt:lpstr>
      <vt:lpstr>Análisis de consistencia</vt:lpstr>
      <vt:lpstr>Análisis de consistencia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Relaciones Productivas en México UAM Azcapotzalco</dc:creator>
  <cp:lastModifiedBy>Relaciones Productivas en México UAM Azcapotzalco</cp:lastModifiedBy>
  <cp:revision>1</cp:revision>
  <dcterms:created xsi:type="dcterms:W3CDTF">2026-07-29T01:50:02Z</dcterms:created>
  <dcterms:modified xsi:type="dcterms:W3CDTF">2026-07-29T02:54:40Z</dcterms:modified>
</cp:coreProperties>
</file>